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9144000" cy="5143500" type="screen16x9"/>
  <p:notesSz cx="6858000" cy="9144000"/>
  <p:embeddedFontLst>
    <p:embeddedFont>
      <p:font typeface="Manrope" panose="020B0604020202020204" charset="0"/>
      <p:regular r:id="rId14"/>
      <p:bold r:id="rId15"/>
    </p:embeddedFont>
    <p:embeddedFont>
      <p:font typeface="Manrope SemiBold" panose="020B0604020202020204" charset="0"/>
      <p:regular r:id="rId16"/>
      <p:bold r:id="rId17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94" d="100"/>
          <a:sy n="94" d="100"/>
        </p:scale>
        <p:origin x="480" y="36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4.fntdata"/><Relationship Id="rId2" Type="http://schemas.openxmlformats.org/officeDocument/2006/relationships/slide" Target="slides/slide1.xml"/><Relationship Id="rId16" Type="http://schemas.openxmlformats.org/officeDocument/2006/relationships/font" Target="fonts/font3.fntdata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2.fntdata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1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g3b6c7e62156_0_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" name="Google Shape;60;g3b6c7e62156_0_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g3b6c7e62156_0_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" name="Google Shape;66;g3b6c7e62156_0_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g3b6c7e62156_0_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" name="Google Shape;72;g3b6c7e62156_0_1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g3b6c7e62156_0_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" name="Google Shape;78;g3b6c7e62156_0_2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g3b6c7e62156_0_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" name="Google Shape;84;g3b6c7e62156_0_2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3b6c7e62156_0_3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" name="Google Shape;90;g3b6c7e62156_0_3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g3b6c7e62156_0_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6" name="Google Shape;96;g3b6c7e62156_0_3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g3b6c7e62156_0_4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2" name="Google Shape;102;g3b6c7e62156_0_4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g3b6c7e62156_0_4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8" name="Google Shape;108;g3b6c7e62156_0_4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g3b6c7e62156_0_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4" name="Google Shape;114;g3b6c7e62156_0_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3.jp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5.jpe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" name="Google Shape;54;p13" title="Artscfghgboard – 5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18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55" name="Google Shape;55;p13"/>
          <p:cNvSpPr txBox="1"/>
          <p:nvPr/>
        </p:nvSpPr>
        <p:spPr>
          <a:xfrm>
            <a:off x="311700" y="3594125"/>
            <a:ext cx="8520600" cy="4074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 dirty="0">
                <a:solidFill>
                  <a:srgbClr val="202729"/>
                </a:solidFill>
                <a:latin typeface="Manrope SemiBold"/>
                <a:ea typeface="Manrope SemiBold"/>
                <a:cs typeface="Manrope SemiBold"/>
                <a:sym typeface="Manrope SemiBold"/>
              </a:rPr>
              <a:t>Team Name : </a:t>
            </a:r>
            <a:r>
              <a:rPr lang="en-GB" sz="1600" b="1" dirty="0" err="1">
                <a:solidFill>
                  <a:srgbClr val="202729"/>
                </a:solidFill>
                <a:latin typeface="Manrope SemiBold"/>
                <a:ea typeface="Manrope SemiBold"/>
                <a:cs typeface="Manrope SemiBold"/>
                <a:sym typeface="Manrope SemiBold"/>
              </a:rPr>
              <a:t>InfraX</a:t>
            </a:r>
            <a:endParaRPr sz="1600" b="1" dirty="0">
              <a:solidFill>
                <a:srgbClr val="202729"/>
              </a:solidFill>
              <a:latin typeface="Manrope SemiBold"/>
              <a:ea typeface="Manrope SemiBold"/>
              <a:cs typeface="Manrope SemiBold"/>
              <a:sym typeface="Manrope SemiBold"/>
            </a:endParaRPr>
          </a:p>
        </p:txBody>
      </p:sp>
      <p:sp>
        <p:nvSpPr>
          <p:cNvPr id="56" name="Google Shape;56;p13"/>
          <p:cNvSpPr txBox="1"/>
          <p:nvPr/>
        </p:nvSpPr>
        <p:spPr>
          <a:xfrm>
            <a:off x="383646" y="4243075"/>
            <a:ext cx="8520600" cy="658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lnSpcReduction="10000"/>
          </a:bodyPr>
          <a:lstStyle/>
          <a:p>
            <a:pPr lvl="0">
              <a:lnSpc>
                <a:spcPct val="70000"/>
              </a:lnSpc>
            </a:pPr>
            <a:r>
              <a:rPr lang="en-GB" sz="1600" dirty="0">
                <a:solidFill>
                  <a:srgbClr val="202729"/>
                </a:solidFill>
                <a:latin typeface="Manrope SemiBold"/>
                <a:ea typeface="Manrope SemiBold"/>
                <a:cs typeface="Manrope SemiBold"/>
                <a:sym typeface="Manrope SemiBold"/>
              </a:rPr>
              <a:t>Problem Statement : </a:t>
            </a:r>
            <a:r>
              <a:rPr lang="en-US" sz="1600" b="1" dirty="0">
                <a:solidFill>
                  <a:srgbClr val="202729"/>
                </a:solidFill>
                <a:latin typeface="Manrope SemiBold"/>
                <a:ea typeface="Manrope SemiBold"/>
                <a:cs typeface="Manrope SemiBold"/>
                <a:sym typeface="Manrope SemiBold"/>
              </a:rPr>
              <a:t>Design an AI-driven solution that helps create, manage,</a:t>
            </a:r>
            <a:br>
              <a:rPr lang="en-US" sz="1600" b="1" dirty="0">
                <a:solidFill>
                  <a:srgbClr val="202729"/>
                </a:solidFill>
                <a:latin typeface="Manrope SemiBold"/>
                <a:ea typeface="Manrope SemiBold"/>
                <a:cs typeface="Manrope SemiBold"/>
                <a:sym typeface="Manrope SemiBold"/>
              </a:rPr>
            </a:br>
            <a:br>
              <a:rPr lang="en-US" sz="1600" b="1" dirty="0">
                <a:solidFill>
                  <a:srgbClr val="202729"/>
                </a:solidFill>
                <a:latin typeface="Manrope SemiBold"/>
                <a:ea typeface="Manrope SemiBold"/>
                <a:cs typeface="Manrope SemiBold"/>
                <a:sym typeface="Manrope SemiBold"/>
              </a:rPr>
            </a:br>
            <a:r>
              <a:rPr lang="en-US" sz="1600" b="1" dirty="0">
                <a:solidFill>
                  <a:srgbClr val="202729"/>
                </a:solidFill>
                <a:latin typeface="Manrope SemiBold"/>
                <a:ea typeface="Manrope SemiBold"/>
                <a:cs typeface="Manrope SemiBold"/>
                <a:sym typeface="Manrope SemiBold"/>
              </a:rPr>
              <a:t>     personalize, or distribute digital content more effectively.</a:t>
            </a:r>
            <a:endParaRPr sz="1600" b="1" dirty="0">
              <a:solidFill>
                <a:srgbClr val="202729"/>
              </a:solidFill>
              <a:latin typeface="Manrope SemiBold"/>
              <a:ea typeface="Manrope SemiBold"/>
              <a:cs typeface="Manrope SemiBold"/>
              <a:sym typeface="Manrope SemiBold"/>
            </a:endParaRPr>
          </a:p>
        </p:txBody>
      </p:sp>
      <p:sp>
        <p:nvSpPr>
          <p:cNvPr id="57" name="Google Shape;57;p13"/>
          <p:cNvSpPr txBox="1"/>
          <p:nvPr/>
        </p:nvSpPr>
        <p:spPr>
          <a:xfrm>
            <a:off x="383646" y="3854460"/>
            <a:ext cx="8520600" cy="44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 dirty="0">
                <a:solidFill>
                  <a:srgbClr val="202729"/>
                </a:solidFill>
                <a:latin typeface="Manrope SemiBold"/>
                <a:ea typeface="Manrope SemiBold"/>
                <a:cs typeface="Manrope SemiBold"/>
                <a:sym typeface="Manrope SemiBold"/>
              </a:rPr>
              <a:t>Team Leader Name : </a:t>
            </a:r>
            <a:r>
              <a:rPr lang="en-GB" sz="1600" b="1" dirty="0">
                <a:solidFill>
                  <a:srgbClr val="202729"/>
                </a:solidFill>
                <a:latin typeface="Manrope SemiBold"/>
                <a:ea typeface="Manrope SemiBold"/>
                <a:cs typeface="Manrope SemiBold"/>
                <a:sym typeface="Manrope SemiBold"/>
              </a:rPr>
              <a:t>Chirag Keswani</a:t>
            </a:r>
            <a:endParaRPr sz="1600" b="1" dirty="0">
              <a:solidFill>
                <a:srgbClr val="202729"/>
              </a:solidFill>
              <a:latin typeface="Manrope SemiBold"/>
              <a:ea typeface="Manrope SemiBold"/>
              <a:cs typeface="Manrope SemiBold"/>
              <a:sym typeface="Manrope SemiBold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2" name="Google Shape;62;p14" title="Artboarddfghjk – 6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9144018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63" name="Google Shape;63;p14"/>
          <p:cNvSpPr txBox="1"/>
          <p:nvPr/>
        </p:nvSpPr>
        <p:spPr>
          <a:xfrm>
            <a:off x="373575" y="739794"/>
            <a:ext cx="8543544" cy="40797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lnSpcReduction="10000"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935"/>
              <a:buNone/>
            </a:pPr>
            <a:r>
              <a:rPr lang="en-GB" sz="1700" b="1" dirty="0">
                <a:solidFill>
                  <a:srgbClr val="202729"/>
                </a:solidFill>
                <a:latin typeface="Manrope"/>
                <a:ea typeface="Manrope"/>
                <a:cs typeface="Manrope"/>
                <a:sym typeface="Manrope"/>
              </a:rPr>
              <a:t>Brief about the Idea:</a:t>
            </a:r>
          </a:p>
          <a:p>
            <a:r>
              <a:rPr lang="en-US" sz="1800" dirty="0">
                <a:latin typeface="+mj-lt"/>
              </a:rPr>
              <a:t>AI is an intelligent pre-posting assistant that predicts potential hate, trolling, or backlash before content is published on social media.</a:t>
            </a:r>
          </a:p>
          <a:p>
            <a:r>
              <a:rPr lang="en-US" sz="1800" dirty="0">
                <a:latin typeface="+mj-lt"/>
              </a:rPr>
              <a:t>The system analyzes captions, text, images, or videos using AI models to detect:</a:t>
            </a:r>
          </a:p>
          <a:p>
            <a:endParaRPr lang="en-US" sz="1800" dirty="0">
              <a:latin typeface="+mj-lt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>
                <a:latin typeface="+mj-lt"/>
              </a:rPr>
              <a:t>toxicity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>
                <a:latin typeface="+mj-lt"/>
              </a:rPr>
              <a:t>sensitive topics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>
                <a:latin typeface="+mj-lt"/>
              </a:rPr>
              <a:t>aggressive tone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>
                <a:latin typeface="+mj-lt"/>
              </a:rPr>
              <a:t>audience reaction risk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800" dirty="0">
              <a:latin typeface="+mj-lt"/>
            </a:endParaRPr>
          </a:p>
          <a:p>
            <a:r>
              <a:rPr lang="en-US" sz="1800" dirty="0">
                <a:latin typeface="+mj-lt"/>
              </a:rPr>
              <a:t>It provides early warnings and smart suggestions so creators can post safer and smarter content.</a:t>
            </a:r>
          </a:p>
          <a:p>
            <a:endParaRPr lang="en-US" sz="1800" dirty="0">
              <a:latin typeface="+mj-lt"/>
            </a:endParaRPr>
          </a:p>
          <a:p>
            <a:r>
              <a:rPr lang="en-US" sz="1800" dirty="0">
                <a:latin typeface="+mj-lt"/>
              </a:rPr>
              <a:t>This transforms social media posting from </a:t>
            </a:r>
            <a:r>
              <a:rPr lang="en-US" sz="1800" b="1" dirty="0">
                <a:latin typeface="+mj-lt"/>
              </a:rPr>
              <a:t>reactive moderation → proactive prevention</a:t>
            </a:r>
            <a:r>
              <a:rPr lang="en-US" sz="1800" dirty="0">
                <a:latin typeface="+mj-lt"/>
              </a:rPr>
              <a:t>.</a:t>
            </a: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935"/>
              <a:buNone/>
            </a:pPr>
            <a:endParaRPr sz="1700" b="1" dirty="0">
              <a:solidFill>
                <a:srgbClr val="202729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8" name="Google Shape;68;p15" title="Artboarddfghjk – 6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9144018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69" name="Google Shape;69;p15"/>
          <p:cNvSpPr txBox="1"/>
          <p:nvPr/>
        </p:nvSpPr>
        <p:spPr>
          <a:xfrm>
            <a:off x="339408" y="757368"/>
            <a:ext cx="4412700" cy="39808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77500" lnSpcReduction="20000"/>
          </a:bodyPr>
          <a:lstStyle/>
          <a:p>
            <a:r>
              <a:rPr lang="en-US" sz="2600" b="1" u="sng" dirty="0">
                <a:latin typeface="+mn-lt"/>
              </a:rPr>
              <a:t>Differentiation + Solution + USP</a:t>
            </a:r>
          </a:p>
          <a:p>
            <a:endParaRPr lang="en-US" sz="2000" b="1" dirty="0">
              <a:latin typeface="+mn-lt"/>
            </a:endParaRPr>
          </a:p>
          <a:p>
            <a:r>
              <a:rPr lang="en-US" sz="2100" b="1" dirty="0">
                <a:latin typeface="+mn-lt"/>
              </a:rPr>
              <a:t>How different is it from existing tools?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100" dirty="0">
                <a:latin typeface="+mn-lt"/>
              </a:rPr>
              <a:t>Current tools remove hate after posting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100" dirty="0">
                <a:latin typeface="+mn-lt"/>
              </a:rPr>
              <a:t>Block/report system only after damage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100" dirty="0">
                <a:latin typeface="+mn-lt"/>
              </a:rPr>
              <a:t>No risk prediction available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100" dirty="0">
              <a:latin typeface="+mn-lt"/>
            </a:endParaRPr>
          </a:p>
          <a:p>
            <a:r>
              <a:rPr lang="en-US" sz="2100" b="1" dirty="0">
                <a:latin typeface="+mn-lt"/>
              </a:rPr>
              <a:t>How will it solve the problem?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100" dirty="0">
                <a:latin typeface="+mn-lt"/>
              </a:rPr>
              <a:t>Analyzes content before publishing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100" dirty="0">
                <a:latin typeface="+mn-lt"/>
              </a:rPr>
              <a:t>Predicts backlash probability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100" dirty="0">
                <a:latin typeface="+mn-lt"/>
              </a:rPr>
              <a:t>Detects toxic or sensitive words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100" dirty="0">
                <a:latin typeface="+mn-lt"/>
              </a:rPr>
              <a:t>Suggests safer alternatives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100" dirty="0">
              <a:latin typeface="+mn-lt"/>
            </a:endParaRPr>
          </a:p>
          <a:p>
            <a:r>
              <a:rPr lang="en-US" sz="2100" b="1" dirty="0">
                <a:latin typeface="+mn-lt"/>
              </a:rPr>
              <a:t>USP of the proposed solution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100" dirty="0">
                <a:latin typeface="+mn-lt"/>
              </a:rPr>
              <a:t>Pre-post backlash prediction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100" dirty="0">
                <a:latin typeface="+mn-lt"/>
              </a:rPr>
              <a:t>AI audience simulation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100" dirty="0">
                <a:latin typeface="+mn-lt"/>
              </a:rPr>
              <a:t>Real-time tone correction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100" dirty="0">
                <a:latin typeface="+mn-lt"/>
              </a:rPr>
              <a:t>Backlash risk meter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4" name="Google Shape;74;p16" title="Artboarddfghjk – 6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9144018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75" name="Google Shape;75;p16"/>
          <p:cNvSpPr txBox="1"/>
          <p:nvPr/>
        </p:nvSpPr>
        <p:spPr>
          <a:xfrm>
            <a:off x="969530" y="863030"/>
            <a:ext cx="5604451" cy="366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2500" lnSpcReduction="10000"/>
          </a:bodyPr>
          <a:lstStyle/>
          <a:p>
            <a:r>
              <a:rPr lang="en-US" sz="2400" b="1" u="sng" dirty="0">
                <a:latin typeface="Manrope" panose="020B0604020202020204" charset="0"/>
              </a:rPr>
              <a:t>List of Features Offered</a:t>
            </a:r>
          </a:p>
          <a:p>
            <a:endParaRPr lang="en-US" sz="2400" b="1" u="sng" dirty="0">
              <a:latin typeface="Manrope" panose="020B0604020202020204" charset="0"/>
            </a:endParaRPr>
          </a:p>
          <a:p>
            <a:r>
              <a:rPr lang="en-US" sz="2400" b="1" dirty="0"/>
              <a:t>Features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200" dirty="0"/>
              <a:t>Content sentiment analysis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200" dirty="0"/>
              <a:t>Toxicity &amp; hate speech detection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200" dirty="0"/>
              <a:t>Sensitive topic identification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200" dirty="0"/>
              <a:t>Backlash probability scoring (%)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200" dirty="0"/>
              <a:t>Toxic word highlighter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200" dirty="0"/>
              <a:t>AI tone rewriting suggestions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200" dirty="0"/>
              <a:t>Audience reaction simulation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200" dirty="0"/>
              <a:t>Dashboard with risk meter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200" dirty="0"/>
              <a:t>Multi-language support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0" name="Google Shape;80;p17" title="Artboarddfghjk – 6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9144018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81" name="Google Shape;81;p17"/>
          <p:cNvSpPr txBox="1"/>
          <p:nvPr/>
        </p:nvSpPr>
        <p:spPr>
          <a:xfrm>
            <a:off x="277324" y="836048"/>
            <a:ext cx="4191547" cy="37222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r>
              <a:rPr lang="en-IN" sz="2400" b="1" u="sng" dirty="0">
                <a:latin typeface="Manrope" panose="020B0604020202020204" charset="0"/>
              </a:rPr>
              <a:t>System Flow</a:t>
            </a:r>
          </a:p>
          <a:p>
            <a:pPr marL="342900" indent="-342900">
              <a:buFont typeface="+mj-lt"/>
              <a:buAutoNum type="arabicPeriod"/>
            </a:pPr>
            <a:r>
              <a:rPr lang="en-IN" sz="1600" dirty="0"/>
              <a:t>User uploads content (text/image/video)</a:t>
            </a:r>
          </a:p>
          <a:p>
            <a:pPr marL="342900" indent="-342900">
              <a:buFont typeface="+mj-lt"/>
              <a:buAutoNum type="arabicPeriod"/>
            </a:pPr>
            <a:r>
              <a:rPr lang="en-IN" sz="1600" dirty="0"/>
              <a:t>System captures input</a:t>
            </a:r>
          </a:p>
          <a:p>
            <a:pPr marL="342900" indent="-342900">
              <a:buFont typeface="+mj-lt"/>
              <a:buAutoNum type="arabicPeriod"/>
            </a:pPr>
            <a:r>
              <a:rPr lang="en-IN" sz="1600" dirty="0"/>
              <a:t>Backend API sends data to AI engine</a:t>
            </a:r>
          </a:p>
          <a:p>
            <a:pPr marL="342900" indent="-342900">
              <a:buFont typeface="+mj-lt"/>
              <a:buAutoNum type="arabicPeriod"/>
            </a:pPr>
            <a:r>
              <a:rPr lang="en-IN" sz="1600" dirty="0"/>
              <a:t>AI </a:t>
            </a:r>
            <a:r>
              <a:rPr lang="en-IN" sz="1600" dirty="0" err="1"/>
              <a:t>analyzes</a:t>
            </a:r>
            <a:r>
              <a:rPr lang="en-IN" sz="1600" dirty="0"/>
              <a:t> sentiment, toxicity, and topics</a:t>
            </a:r>
          </a:p>
          <a:p>
            <a:pPr marL="342900" indent="-342900">
              <a:buFont typeface="+mj-lt"/>
              <a:buAutoNum type="arabicPeriod"/>
            </a:pPr>
            <a:r>
              <a:rPr lang="en-IN" sz="1600" dirty="0"/>
              <a:t>Risk engine calculates backlash score</a:t>
            </a:r>
          </a:p>
          <a:p>
            <a:pPr marL="342900" indent="-342900">
              <a:buFont typeface="+mj-lt"/>
              <a:buAutoNum type="arabicPeriod"/>
            </a:pPr>
            <a:r>
              <a:rPr lang="en-IN" sz="1600" dirty="0"/>
              <a:t>Suggestions and warnings displayed</a:t>
            </a:r>
          </a:p>
          <a:p>
            <a:pPr marL="342900" indent="-342900">
              <a:buFont typeface="+mj-lt"/>
              <a:buAutoNum type="arabicPeriod"/>
            </a:pPr>
            <a:r>
              <a:rPr lang="en-IN" sz="1600" dirty="0"/>
              <a:t>User edits → posts safely</a:t>
            </a:r>
          </a:p>
          <a:p>
            <a:endParaRPr lang="en-IN" sz="1600" dirty="0"/>
          </a:p>
          <a:p>
            <a:r>
              <a:rPr lang="en-IN" sz="2400" b="1" u="sng" dirty="0">
                <a:latin typeface="Manrope" panose="020B0604020202020204" charset="0"/>
              </a:rPr>
              <a:t>Flow:</a:t>
            </a:r>
          </a:p>
          <a:p>
            <a:r>
              <a:rPr lang="en-IN" sz="1700" dirty="0"/>
              <a:t>User → Upload → AI Engine → Risk Analysis → Suggestions → Safe Post</a:t>
            </a:r>
            <a:endParaRPr dirty="0">
              <a:solidFill>
                <a:srgbClr val="434343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64DA58E-C345-C682-AC9A-1B0C10E0097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75130" y="685800"/>
            <a:ext cx="4088415" cy="406631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6" name="Google Shape;86;p18" title="Artboarddfghjk – 6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9144018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87" name="Google Shape;87;p18"/>
          <p:cNvSpPr txBox="1"/>
          <p:nvPr/>
        </p:nvSpPr>
        <p:spPr>
          <a:xfrm>
            <a:off x="270164" y="608625"/>
            <a:ext cx="4856036" cy="33045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35"/>
              <a:buNone/>
            </a:pPr>
            <a:r>
              <a:rPr lang="en-GB" b="1" u="sng" dirty="0">
                <a:solidFill>
                  <a:srgbClr val="202729"/>
                </a:solidFill>
                <a:latin typeface="Manrope"/>
                <a:ea typeface="Manrope"/>
                <a:cs typeface="Manrope"/>
                <a:sym typeface="Manrope"/>
              </a:rPr>
              <a:t>Wireframes/Mock diagrams of the proposed solution</a:t>
            </a: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35"/>
              <a:buNone/>
            </a:pPr>
            <a:endParaRPr lang="en-GB" sz="2000" b="1" dirty="0">
              <a:solidFill>
                <a:srgbClr val="202729"/>
              </a:solidFill>
              <a:latin typeface="Manrope"/>
              <a:ea typeface="Manrope"/>
              <a:cs typeface="Manrope"/>
              <a:sym typeface="Manrope"/>
            </a:endParaRPr>
          </a:p>
          <a:p>
            <a:r>
              <a:rPr lang="en-IN" b="1" dirty="0">
                <a:latin typeface="+mn-lt"/>
              </a:rPr>
              <a:t>Interface will include: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>
                <a:latin typeface="+mn-lt"/>
              </a:rPr>
              <a:t>Content upload panel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>
                <a:latin typeface="+mn-lt"/>
              </a:rPr>
              <a:t>Highlighted toxic words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>
                <a:latin typeface="+mn-lt"/>
              </a:rPr>
              <a:t>Backlash meter (Green/Yellow/Red gauge)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>
                <a:latin typeface="+mn-lt"/>
              </a:rPr>
              <a:t>Sentiment graph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>
                <a:latin typeface="+mn-lt"/>
              </a:rPr>
              <a:t>Suggested rewritten sentences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>
                <a:latin typeface="+mn-lt"/>
              </a:rPr>
              <a:t>Risk summary dashboard</a:t>
            </a:r>
          </a:p>
          <a:p>
            <a:endParaRPr lang="en-IN" sz="1800" dirty="0">
              <a:latin typeface="+mn-lt"/>
            </a:endParaRPr>
          </a:p>
          <a:p>
            <a:r>
              <a:rPr lang="en-IN" b="1" dirty="0">
                <a:latin typeface="+mn-lt"/>
              </a:rPr>
              <a:t>Design goal: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>
                <a:latin typeface="+mn-lt"/>
              </a:rPr>
              <a:t>Simple, clean, and non-intrusive user experience.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45D9CD7-F59C-226F-0F6A-7CADE48702D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0" y="1407096"/>
            <a:ext cx="4211781" cy="3411682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" name="Google Shape;92;p19" title="Artboarddfghjk – 6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-18" y="-1"/>
            <a:ext cx="9144018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93" name="Google Shape;93;p19"/>
          <p:cNvSpPr txBox="1"/>
          <p:nvPr/>
        </p:nvSpPr>
        <p:spPr>
          <a:xfrm>
            <a:off x="40807" y="512618"/>
            <a:ext cx="5293193" cy="43018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r>
              <a:rPr lang="en-IN" sz="1600" b="1" u="sng" dirty="0">
                <a:latin typeface="Manrope" panose="020B0604020202020204" charset="0"/>
              </a:rPr>
              <a:t>Architecture Diagram of the Proposed Solution</a:t>
            </a:r>
          </a:p>
          <a:p>
            <a:endParaRPr lang="en-IN" sz="1600" b="1" dirty="0"/>
          </a:p>
          <a:p>
            <a:r>
              <a:rPr lang="en-IN" b="1" dirty="0"/>
              <a:t>Frontend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HTML , React , Tailwind CSS</a:t>
            </a:r>
          </a:p>
          <a:p>
            <a:r>
              <a:rPr lang="en-IN" b="1" dirty="0"/>
              <a:t>Backend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Python (</a:t>
            </a:r>
            <a:r>
              <a:rPr lang="en-IN" dirty="0" err="1"/>
              <a:t>FastAPI</a:t>
            </a:r>
            <a:r>
              <a:rPr lang="en-IN" dirty="0"/>
              <a:t>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API handling &amp; processing</a:t>
            </a:r>
          </a:p>
          <a:p>
            <a:r>
              <a:rPr lang="en-IN" b="1" dirty="0"/>
              <a:t>AI Layer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Sentiment Analysis Model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Toxicity Detection Model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Hate Speech Classifier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NLP Transformer Models</a:t>
            </a:r>
          </a:p>
          <a:p>
            <a:r>
              <a:rPr lang="en-IN" b="1" dirty="0"/>
              <a:t>Database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MongoDB / Firebase</a:t>
            </a:r>
          </a:p>
          <a:p>
            <a:r>
              <a:rPr lang="en-IN" b="1" dirty="0"/>
              <a:t>System Flow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Frontend → Backend API → AI Engine → Results → Dashboard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606C874-B047-B6B8-1F77-8BB7DC0A90C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21381" y="591387"/>
            <a:ext cx="3893128" cy="4144297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8" name="Google Shape;98;p20" title="Artboarddfghjk – 6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9144018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99" name="Google Shape;99;p20"/>
          <p:cNvSpPr txBox="1"/>
          <p:nvPr/>
        </p:nvSpPr>
        <p:spPr>
          <a:xfrm>
            <a:off x="962740" y="942028"/>
            <a:ext cx="7053729" cy="34794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935"/>
              <a:buNone/>
            </a:pPr>
            <a:r>
              <a:rPr lang="en-GB" sz="2400" b="1" u="sng" dirty="0">
                <a:solidFill>
                  <a:srgbClr val="202729"/>
                </a:solidFill>
                <a:latin typeface="Manrope"/>
                <a:ea typeface="Manrope"/>
                <a:cs typeface="Manrope"/>
                <a:sym typeface="Manrope"/>
              </a:rPr>
              <a:t>Technologies to be used in the solution:</a:t>
            </a:r>
          </a:p>
          <a:p>
            <a:r>
              <a:rPr lang="en-IN" sz="2400" b="1" dirty="0"/>
              <a:t>Tech Stack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dirty="0"/>
              <a:t>Python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dirty="0"/>
              <a:t>HTML , React , Tailwind CSS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dirty="0"/>
              <a:t>AI/ML (libraries of python)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dirty="0"/>
              <a:t>NLP &amp; Transformers (BERT/LLMs)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dirty="0"/>
              <a:t>Sentiment Analysis Libraries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dirty="0" err="1"/>
              <a:t>HuggingFace</a:t>
            </a:r>
            <a:r>
              <a:rPr lang="en-IN" sz="1600" dirty="0"/>
              <a:t> / OpenAI APIs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dirty="0"/>
              <a:t>MongoDB / Firebase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dirty="0"/>
              <a:t>Chart.js / D3.js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dirty="0"/>
              <a:t>Cloud Hosting (AWS/GCP/Azure)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4" name="Google Shape;104;p21" title="Artboarddfghjk – 6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9144018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105" name="Google Shape;105;p21"/>
          <p:cNvSpPr txBox="1"/>
          <p:nvPr/>
        </p:nvSpPr>
        <p:spPr>
          <a:xfrm>
            <a:off x="697780" y="1019336"/>
            <a:ext cx="7531800" cy="366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935"/>
              <a:buNone/>
            </a:pPr>
            <a:r>
              <a:rPr lang="en-GB" sz="2800" b="1" u="sng" dirty="0">
                <a:solidFill>
                  <a:srgbClr val="202729"/>
                </a:solidFill>
                <a:latin typeface="Manrope"/>
                <a:ea typeface="Manrope"/>
                <a:cs typeface="Manrope"/>
                <a:sym typeface="Manrope"/>
              </a:rPr>
              <a:t>Estimated implementation cost :</a:t>
            </a:r>
          </a:p>
          <a:p>
            <a:r>
              <a:rPr lang="en-US" sz="2000" b="1" dirty="0"/>
              <a:t>Cost Estimation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Core technologies: Open-source (Free)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Hosting: Low cost cloud services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APIs: Scalable usage-based pricing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Development: Student-friendly budget</a:t>
            </a:r>
          </a:p>
          <a:p>
            <a:r>
              <a:rPr lang="en-US" sz="2000" b="1" dirty="0"/>
              <a:t>Result: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Prototype can be built with minimal cost.</a:t>
            </a: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935"/>
              <a:buNone/>
            </a:pPr>
            <a:endParaRPr dirty="0">
              <a:solidFill>
                <a:srgbClr val="434343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0" name="Google Shape;110;p22" title="Artboarddfghjk – 6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9144018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111" name="Google Shape;111;p22"/>
          <p:cNvSpPr txBox="1"/>
          <p:nvPr/>
        </p:nvSpPr>
        <p:spPr>
          <a:xfrm>
            <a:off x="765460" y="818230"/>
            <a:ext cx="5615020" cy="366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70000" lnSpcReduction="20000"/>
          </a:bodyPr>
          <a:lstStyle/>
          <a:p>
            <a:r>
              <a:rPr lang="en-IN" sz="3400" b="1" u="sng" dirty="0">
                <a:latin typeface="Manrope" panose="020B0604020202020204" charset="0"/>
              </a:rPr>
              <a:t>Expected Impact &amp; Future Scope</a:t>
            </a:r>
          </a:p>
          <a:p>
            <a:endParaRPr lang="en-IN" sz="2000" b="1" u="sng" dirty="0">
              <a:latin typeface="Manrope" panose="020B0604020202020204" charset="0"/>
            </a:endParaRPr>
          </a:p>
          <a:p>
            <a:r>
              <a:rPr lang="en-IN" sz="2300" b="1" dirty="0"/>
              <a:t>Expected Impact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300" dirty="0"/>
              <a:t>Reduced online hate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300" dirty="0"/>
              <a:t>Safer content creation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300" dirty="0"/>
              <a:t>Mental health protection for creators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300" dirty="0"/>
              <a:t>Improved brand reputation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300" dirty="0"/>
              <a:t>Better audience engagement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300" dirty="0"/>
              <a:t>Responsible digital communication</a:t>
            </a:r>
          </a:p>
          <a:p>
            <a:endParaRPr lang="en-IN" sz="2300" dirty="0"/>
          </a:p>
          <a:p>
            <a:r>
              <a:rPr lang="en-IN" sz="2300" b="1" dirty="0"/>
              <a:t>Future Scope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300" dirty="0"/>
              <a:t>Instagram/Twitter integration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300" dirty="0"/>
              <a:t>Browser extension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300" dirty="0"/>
              <a:t>Real-time posting assistant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300" dirty="0"/>
              <a:t>Meme &amp; image sarcasm detection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300" dirty="0"/>
              <a:t>Multilingual hate detection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300" dirty="0"/>
              <a:t>Live audience analytics</a:t>
            </a:r>
            <a:endParaRPr sz="2300" dirty="0">
              <a:solidFill>
                <a:srgbClr val="434343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6" name="Google Shape;116;p23" title="AI for Bharddat BANNER – 5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9144018" cy="51435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62</TotalTime>
  <Words>528</Words>
  <Application>Microsoft Office PowerPoint</Application>
  <PresentationFormat>On-screen Show (16:9)</PresentationFormat>
  <Paragraphs>120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Manrope SemiBold</vt:lpstr>
      <vt:lpstr>Arial</vt:lpstr>
      <vt:lpstr>Manrope</vt:lpstr>
      <vt:lpstr>Simple Light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Vedansh Tiwari</cp:lastModifiedBy>
  <cp:revision>4</cp:revision>
  <dcterms:modified xsi:type="dcterms:W3CDTF">2026-02-08T10:54:02Z</dcterms:modified>
</cp:coreProperties>
</file>